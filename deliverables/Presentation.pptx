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SG Citizen Financial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9CCE0"/>
                </a:solidFill>
              </a:rPr>
              <a:t>A Multimodal RAG Agent for Singapore Government Subsidy Schemes &amp; Tax Reliefs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Mini-Project: Build and Evaluate a Practical RAG Assistant — 30 July 2026 — Group: [Group Name / Number]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480560"/>
            <a:ext cx="2606040" cy="11887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Part 1 · DATA &amp; INGESTION</a:t>
            </a:r>
          </a:p>
          <a:p>
            <a:pPr algn="ctr"/>
            <a:r>
              <a:rPr sz="1300" i="1">
                <a:solidFill>
                  <a:srgbClr val="FFFFFF"/>
                </a:solidFill>
              </a:rPr>
              <a:t>[Name 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480560"/>
            <a:ext cx="2606040" cy="11887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Part 2 · RETRIEVAL</a:t>
            </a:r>
          </a:p>
          <a:p>
            <a:pPr algn="ctr"/>
            <a:r>
              <a:rPr sz="1300" i="1">
                <a:solidFill>
                  <a:srgbClr val="FFFFFF"/>
                </a:solidFill>
              </a:rPr>
              <a:t>[Name 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480560"/>
            <a:ext cx="2606040" cy="1188720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Part 3 · GENERATION &amp; APPLICATION</a:t>
            </a:r>
          </a:p>
          <a:p>
            <a:pPr algn="ctr"/>
            <a:r>
              <a:rPr sz="1300" i="1">
                <a:solidFill>
                  <a:srgbClr val="FFFFFF"/>
                </a:solidFill>
              </a:rPr>
              <a:t>[Name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480560"/>
            <a:ext cx="2606040" cy="1188720"/>
          </a:xfrm>
          <a:prstGeom prst="round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Part 4 · EVALUATION &amp; TESTING</a:t>
            </a:r>
          </a:p>
          <a:p>
            <a:pPr algn="ctr"/>
            <a:r>
              <a:rPr sz="1300" i="1">
                <a:solidFill>
                  <a:srgbClr val="FFFFFF"/>
                </a:solidFill>
              </a:rPr>
              <a:t>[Name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AGENDA · 10-MINUTE TALK, 4 PRESENTERS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Presentation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06040" cy="44805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06040" cy="105156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PART 1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DATA &amp;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22768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Problem &amp; Intended Users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Knowledge Base &amp; Chunking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029200"/>
            <a:ext cx="22768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D5B"/>
                </a:solidFill>
              </a:rPr>
              <a:t>~2 min</a:t>
            </a:r>
          </a:p>
          <a:p>
            <a:r>
              <a:rPr sz="1150" i="1">
                <a:solidFill>
                  <a:srgbClr val="6B6B6B"/>
                </a:solidFill>
              </a:rPr>
              <a:t>Presenter: [Name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17320"/>
            <a:ext cx="2606040" cy="44805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417320"/>
            <a:ext cx="2606040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PART 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651760"/>
            <a:ext cx="22768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System Architecture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Retrieval Design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5029200"/>
            <a:ext cx="22768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B2"/>
                </a:solidFill>
              </a:rPr>
              <a:t>~2.5 min</a:t>
            </a:r>
          </a:p>
          <a:p>
            <a:r>
              <a:rPr sz="1150" i="1">
                <a:solidFill>
                  <a:srgbClr val="6B6B6B"/>
                </a:solidFill>
              </a:rPr>
              <a:t>Presenter: [Name 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417320"/>
            <a:ext cx="2606040" cy="44805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9904" y="1417320"/>
            <a:ext cx="2606040" cy="1051560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PART 3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GENERATION &amp;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651760"/>
            <a:ext cx="22768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Generation &amp; Prompting Design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Live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5029200"/>
            <a:ext cx="22768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3FA0"/>
                </a:solidFill>
              </a:rPr>
              <a:t>~4 min</a:t>
            </a:r>
          </a:p>
          <a:p>
            <a:r>
              <a:rPr sz="1150" i="1">
                <a:solidFill>
                  <a:srgbClr val="6B6B6B"/>
                </a:solidFill>
              </a:rPr>
              <a:t>Presenter: [Name 3]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6" y="1417320"/>
            <a:ext cx="2606040" cy="44805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B2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0536" y="1417320"/>
            <a:ext cx="2606040" cy="1051560"/>
          </a:xfrm>
          <a:prstGeom prst="round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PART 4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EVALUATION &amp;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651760"/>
            <a:ext cx="22768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Evaluation, Results, Failure Analysis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</a:rPr>
              <a:t>▪  Limitations, Lessons &amp;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5029200"/>
            <a:ext cx="22768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2691F"/>
                </a:solidFill>
              </a:rPr>
              <a:t>~3 min</a:t>
            </a:r>
          </a:p>
          <a:p>
            <a:r>
              <a:rPr sz="1150" i="1">
                <a:solidFill>
                  <a:srgbClr val="6B6B6B"/>
                </a:solidFill>
              </a:rPr>
              <a:t>Presenter: [Name 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6B6B"/>
                </a:solidFill>
              </a:rPr>
              <a:t>Parts follow the group's own responsibility areas: Data &amp; Ingestion → Retrieval → Generation &amp; Application → Evaluation &amp;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1 OF 4 · DATA &amp; INGESTION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Problem &amp; Intended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7D5B"/>
                </a:solidFill>
              </a:rPr>
              <a:t>● Presenter: [Name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2E7D5B"/>
                </a:solidFill>
              </a:rPr>
              <a:t>▪  Who it's for — </a:t>
            </a:r>
            <a:r>
              <a:rPr sz="1900">
                <a:solidFill>
                  <a:srgbClr val="222222"/>
                </a:solidFill>
              </a:rPr>
              <a:t>Singaporean residents — or people helping them, like social workers or family members — who need a plain-language answer to “Am I eligible for X?” or “How much is Y?”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2E7D5B"/>
                </a:solidFill>
              </a:rPr>
              <a:t>▪  The problem — </a:t>
            </a:r>
            <a:r>
              <a:rPr sz="1900">
                <a:solidFill>
                  <a:srgbClr val="222222"/>
                </a:solidFill>
              </a:rPr>
              <a:t>Eligibility rules and payout amounts are scattered across dozens of official PDFs, infographics and explainer videos. It's slow to search and easy to misread a condition.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2E7D5B"/>
                </a:solidFill>
              </a:rPr>
              <a:t>▪  Our answer — </a:t>
            </a:r>
            <a:r>
              <a:rPr sz="1900">
                <a:solidFill>
                  <a:srgbClr val="222222"/>
                </a:solidFill>
              </a:rPr>
              <a:t>A RAG assistant that retrieves the right passage, generates a grounded response, and always shows the source — in two modes: General Q&amp;A and a Personal Eligibility Shortlist.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2E7D5B"/>
                </a:solidFill>
              </a:rPr>
              <a:t>▪  Evidence-based question we set out to answer — </a:t>
            </a:r>
            <a:r>
              <a:rPr sz="1900">
                <a:solidFill>
                  <a:srgbClr val="222222"/>
                </a:solidFill>
              </a:rPr>
              <a:t>how effectively can our system retrieve the right evidence and produce a grounded, attributable answer for this domain?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1 OF 4 · DATA &amp; INGESTION · ~1.5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Knowledge Base &amp; Chunking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7D5B"/>
                </a:solidFill>
              </a:rPr>
              <a:t>● Presenter: [Name 1]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5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7955279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Modality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Chunks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How it's processed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1,768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PDF/HTML scheme pages, extracted via pypdf/pdfplumber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Eligibility infographics, OCR'd via pytesseract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Scheme explainer videos, transcribed via 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385 source documents → 1,809 chunks in ChromaDB — 3 modalities (exceeds the 2-modality minimum).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Structure-aware chunking: pack whole paragraphs up to 350 words — never split mid-paragraph, so an eligibility condition list stays intact.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Only an oversized single paragraph falls back to fixed 350-word chunks with 50-word overlap.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Optional contextual chunking prepends a short “where this sits in the document” sentence before embedding, using a separate LLM quota from the live-query provider.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2 OF 4 · RETRIEVAL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1F6FB2"/>
                </a:solidFill>
              </a:rPr>
              <a:t>● Presenter: [Name 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965960" cy="914400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Browser
(Q&amp;A / Profile UI)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103120"/>
            <a:ext cx="1965960" cy="914400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FastAPI Backend
/api/query
/api/profile-query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1965960" cy="914400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RagIndex
Chroma (dense) +
BM25 (hybrid)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03120"/>
            <a:ext cx="1965960" cy="914400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LLM
Gemini / Groq /
OpenAI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103120"/>
            <a:ext cx="1965960" cy="914400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Answer +
Sources 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560320"/>
            <a:ext cx="320040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2560320"/>
            <a:ext cx="320040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2560320"/>
            <a:ext cx="320040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2560320"/>
            <a:ext cx="320040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42900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Static HTML/CSS/JS frontend with two entry points — no build step required.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FastAPI backend exposes /api/query (general Q&amp;A), /api/profile-query (eligibility shortlist) and /api/config.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RagIndex wraps the Chroma collection, BM25 index, chunk records and embedder in one retrieval object.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</a:rPr>
              <a:t>▪  LLM client is pluggable (Gemini / Groq / OpenAI); a Gradio app reuses the same modules as a demo-day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2 OF 4 · RETRIEVAL · ~1.5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Retrieval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1F6FB2"/>
                </a:solidFill>
              </a:rPr>
              <a:t>● Presenter: [Name 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1F6FB2"/>
                </a:solidFill>
              </a:rPr>
              <a:t>▪  Dense + hybrid retrieval — </a:t>
            </a:r>
            <a:r>
              <a:rPr sz="1800">
                <a:solidFill>
                  <a:srgbClr val="222222"/>
                </a:solidFill>
              </a:rPr>
              <a:t>BAAI/bge-m3 dense embeddings in Chroma; hybrid mode fuses BM25 keyword search via Reciprocal Rank Fusion (k=60).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1F6FB2"/>
                </a:solidFill>
              </a:rPr>
              <a:t>▪  Two-layer abstention gate — </a:t>
            </a:r>
            <a:r>
              <a:rPr sz="1800">
                <a:solidFill>
                  <a:srgbClr val="222222"/>
                </a:solidFill>
              </a:rPr>
              <a:t>a similarity-threshold check (0.35) before the LLM is ever called, plus an in-prompt instruction to abstain if evidence is insufficient.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1F6FB2"/>
                </a:solidFill>
              </a:rPr>
              <a:t>▪  Configurable parameters — </a:t>
            </a:r>
            <a:r>
              <a:rPr sz="1800">
                <a:solidFill>
                  <a:srgbClr val="222222"/>
                </a:solidFill>
              </a:rPr>
              <a:t>top_k = 5, similarity threshold = 0.35, chunk size/overlap = 350/50 words, and a dense/hybrid retrieval-mode toggle.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1F6FB2"/>
                </a:solidFill>
              </a:rPr>
              <a:t>▪  Personal-profile re-ranking — </a:t>
            </a:r>
            <a:r>
              <a:rPr sz="1800">
                <a:solidFill>
                  <a:srgbClr val="222222"/>
                </a:solidFill>
              </a:rPr>
              <a:t>widens the candidate pool, deduplicates near-duplicate scheme variants (e.g. collapsing ComCare SMTA/Interim/LTA into one bucket), and diversifies across the profile's inferred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3 OF 4 · GENERATION &amp; APPLICATION · ~1.5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Generation &amp; Prompting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6B3FA0"/>
                </a:solidFill>
              </a:rPr>
              <a:t>● Presenter: [Name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6B3FA0"/>
                </a:solidFill>
              </a:rPr>
              <a:t>▪  Agentic pipeline — </a:t>
            </a:r>
            <a:r>
              <a:rPr sz="1800">
                <a:solidFill>
                  <a:srgbClr val="222222"/>
                </a:solidFill>
              </a:rPr>
              <a:t>a query-rewrite agent, a personal-situation intent router, a profile-extraction agent, and an eligibility-shortlist assessor sit between retrieval and the final answer.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6B3FA0"/>
                </a:solidFill>
              </a:rPr>
              <a:t>▪  Prompt design — </a:t>
            </a:r>
            <a:r>
              <a:rPr sz="1800">
                <a:solidFill>
                  <a:srgbClr val="222222"/>
                </a:solidFill>
              </a:rPr>
              <a:t>the model must answer using only the supplied context, cite every claim as [scheme, section/page], and use an exact fallback sentence when evidence is insufficient.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6B3FA0"/>
                </a:solidFill>
              </a:rPr>
              <a:t>▪  Deterministic grounding safeguard — </a:t>
            </a:r>
            <a:r>
              <a:rPr sz="1800">
                <a:solidFill>
                  <a:srgbClr val="222222"/>
                </a:solidFill>
              </a:rPr>
              <a:t>the eligible/unclear/not_assessed bucket for each scheme is derived in code from structured conditions — never taken from the model's own prose.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800">
                <a:solidFill>
                  <a:srgbClr val="6B3FA0"/>
                </a:solidFill>
              </a:rPr>
              <a:t>▪  Safety &amp; citations — </a:t>
            </a:r>
            <a:r>
              <a:rPr sz="1800">
                <a:solidFill>
                  <a:srgbClr val="222222"/>
                </a:solidFill>
              </a:rPr>
              <a:t>NRIC/FIN-shaped identifiers are redacted before any query reaches an LLM; every citation is validated against the retrieved set before being shown to the resident.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3 OF 4 · GENERATION &amp; APPLICATION · ~3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6B3FA0"/>
                </a:solidFill>
              </a:rPr>
              <a:t>● Presenter: [Name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6B3FA0"/>
                </a:solidFill>
              </a:rPr>
              <a:t>▪  General Q&amp;A example — </a:t>
            </a:r>
            <a:r>
              <a:rPr sz="1900">
                <a:solidFill>
                  <a:srgbClr val="222222"/>
                </a:solidFill>
              </a:rPr>
              <a:t>“How much does each eligible Singaporean household get from CDC Vouchers?” — grounded answer with [scheme, section] citation.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6B3FA0"/>
                </a:solidFill>
              </a:rPr>
              <a:t>▪  Personal Eligibility Shortlist example — </a:t>
            </a:r>
            <a:r>
              <a:rPr sz="1900">
                <a:solidFill>
                  <a:srgbClr val="222222"/>
                </a:solidFill>
              </a:rPr>
              <a:t>Profile: Singapore Citizen, age 68, HDB flat, retired — shortlist surfaces Silver Support and cost-of-living schemes as “Possibly eligible” with per-condition reasoning.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900">
                <a:solidFill>
                  <a:srgbClr val="6B3FA0"/>
                </a:solidFill>
              </a:rPr>
              <a:t>▪  Unanswerable question example — </a:t>
            </a:r>
            <a:r>
              <a:rPr sz="1900">
                <a:solidFill>
                  <a:srgbClr val="222222"/>
                </a:solidFill>
              </a:rPr>
              <a:t>“Can I use my CDC Vouchers to pay my IRAS income tax bill?” — correctly triggers the fallback message instead of guessing.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>
                <a:solidFill>
                  <a:srgbClr val="222222"/>
                </a:solidFill>
              </a:rPr>
              <a:t>▪  [Switch to the running application for the live walkthrough]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4 OF 4 · EVALUATION &amp; TESTING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Evaluation Dataset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B2691F"/>
                </a:solidFill>
              </a:rPr>
              <a:t>● Presenter: [Name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15-question test set — </a:t>
            </a:r>
            <a:r>
              <a:rPr sz="1700">
                <a:solidFill>
                  <a:srgbClr val="222222"/>
                </a:solidFill>
              </a:rPr>
              <a:t>Factual (F1–F3), Paraphrase (P1–P3), Multi-document (M1–M2), Unanswerable (U1–U2), Ambiguous (A1–A2), Personal profile (PR1–PR3).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8 questions hand-labelled</a:t>
            </a:r>
            <a:r>
              <a:rPr sz="1700">
                <a:solidFill>
                  <a:srgbClr val="222222"/>
                </a:solidFill>
              </a:rPr>
              <a:t>with ground-truth chunk(s) for retrieval scoring.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3 retrieval measures — </a:t>
            </a:r>
            <a:r>
              <a:rPr sz="1700">
                <a:solidFill>
                  <a:srgbClr val="222222"/>
                </a:solidFill>
              </a:rPr>
              <a:t>Hit Rate, Recall@5, Mean Reciprocal Rank (MRR).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1 answer-quality measure — </a:t>
            </a:r>
            <a:r>
              <a:rPr sz="1700">
                <a:solidFill>
                  <a:srgbClr val="222222"/>
                </a:solidFill>
              </a:rPr>
              <a:t>structured 0–2 rubric across Correctness, Faithfulness, Citation accuracy.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Run config — </a:t>
            </a:r>
            <a:r>
              <a:rPr sz="1700">
                <a:solidFill>
                  <a:srgbClr val="222222"/>
                </a:solidFill>
              </a:rPr>
              <a:t>gpt-5.4-mini, BAAI/bge-m3 embeddings, top_k=5, query rewrite off (to isolate the retrieval-mode comparison).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4 OF 4 · EVALUATION &amp; TESTING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Baseline (Dense) vs. Improved (Hybrid)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B2691F"/>
                </a:solidFill>
              </a:rPr>
              <a:t>● Presenter: [Name 4]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146304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B269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Dense</a:t>
                      </a:r>
                    </a:p>
                  </a:txBody>
                  <a:tcPr>
                    <a:solidFill>
                      <a:srgbClr val="B269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B269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B26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+12.5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Recall@5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18.8%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+12.5 pp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−0.031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Correctness (mean)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1.27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+0.13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Faithfulness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−0.26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Citation accuracy (mean)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1.80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1.80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E9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920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B2691F"/>
                </a:solidFill>
              </a:rPr>
              <a:t>▪  What changed — </a:t>
            </a:r>
            <a:r>
              <a:rPr sz="1500">
                <a:solidFill>
                  <a:srgbClr val="222222"/>
                </a:solidFill>
              </a:rPr>
              <a:t>added BM25 keyword search fused with dense retrieval via Reciprocal Rank Fusion, to catch distinctive keywords/amounts dense embeddings dilute.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500">
                <a:solidFill>
                  <a:srgbClr val="B2691F"/>
                </a:solidFill>
              </a:rPr>
              <a:t>▪  Trade-off — </a:t>
            </a:r>
            <a:r>
              <a:rPr sz="1500">
                <a:solidFill>
                  <a:srgbClr val="222222"/>
                </a:solidFill>
              </a:rPr>
              <a:t>hybrid retrieves the right evidence more often, but is less strictly grounded when it does answer — and ranks correct hits slightly later on average.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4 OF 4 · EVALUATION &amp; TESTING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Failure Case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B2691F"/>
                </a:solidFill>
              </a:rPr>
              <a:t>● Presenter: [Name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PR3 — citizenship hallucination: </a:t>
            </a:r>
            <a:r>
              <a:rPr sz="1700">
                <a:solidFill>
                  <a:srgbClr val="222222"/>
                </a:solidFill>
              </a:rPr>
              <a:t>hybrid's reason text asserted “Singapore Citizen” for a profile explicitly marked PR — a generation/grounding failure, since bucket logic only reads structured conditions.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P1/P2 — paraphrase misrouting: </a:t>
            </a:r>
            <a:r>
              <a:rPr sz="1700">
                <a:solidFill>
                  <a:srgbClr val="222222"/>
                </a:solidFill>
              </a:rPr>
              <a:t>“my mother” / “working mum” tax questions were routed into the eligibility-shortlist path instead of IRAS Parent Relief / WMCR — a corpus gap plus an over-eager keyword router.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F2 — corpus-gap false positive: </a:t>
            </a:r>
            <a:r>
              <a:rPr sz="1700">
                <a:solidFill>
                  <a:srgbClr val="222222"/>
                </a:solidFill>
              </a:rPr>
              <a:t>hybrid stated the $80,000 tax relief cap from passages that only mention it in passing, versus dense's safer abstention.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700">
                <a:solidFill>
                  <a:srgbClr val="B2691F"/>
                </a:solidFill>
              </a:rPr>
              <a:t>▪  M2 — under-grounded synthesis: </a:t>
            </a:r>
            <a:r>
              <a:rPr sz="1700">
                <a:solidFill>
                  <a:srgbClr val="222222"/>
                </a:solidFill>
              </a:rPr>
              <a:t>hybrid generated a plausible but only partially correct multi-document answer where dense abstained cleanly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2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9CCE0"/>
                </a:solidFill>
              </a:rPr>
              <a:t>PART 4 OF 4 · EVALUATION &amp; TESTING · ~1–2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Limitations &amp;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B2691F"/>
                </a:solidFill>
              </a:rPr>
              <a:t>● Presenter: [Name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50">
                <a:solidFill>
                  <a:srgbClr val="B2691F"/>
                </a:solidFill>
              </a:rPr>
              <a:t>▪  Limitations — </a:t>
            </a:r>
            <a:r>
              <a:rPr sz="1650">
                <a:solidFill>
                  <a:srgbClr val="222222"/>
                </a:solidFill>
              </a:rPr>
              <a:t>small labelled eval set (8/15); known corpus gaps (Parent Relief/WMCR); keyword-based intent router can misfire; shortlist reasons aren't cross-checked against the profile; MRR regressed under hybrid.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50">
                <a:solidFill>
                  <a:srgbClr val="B2691F"/>
                </a:solidFill>
              </a:rPr>
              <a:t>▪  Lesson 1 — </a:t>
            </a:r>
            <a:r>
              <a:rPr sz="1650">
                <a:solidFill>
                  <a:srgbClr val="222222"/>
                </a:solidFill>
              </a:rPr>
              <a:t>hybrid retrieval trades some ranking precision and answer-faithfulness for meaningfully better coverage — worth it here, but the grounding gap needs a fix.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50">
                <a:solidFill>
                  <a:srgbClr val="B2691F"/>
                </a:solidFill>
              </a:rPr>
              <a:t>▪  Lesson 2 — </a:t>
            </a:r>
            <a:r>
              <a:rPr sz="1650">
                <a:solidFill>
                  <a:srgbClr val="222222"/>
                </a:solidFill>
              </a:rPr>
              <a:t>deriving safety-critical logic (the eligible/unclear bucket) in code from structured fields, rather than trusting the model's own prose, caught bucket errors but not text-level contradictions — both layers need validation.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b="1" sz="1650">
                <a:solidFill>
                  <a:srgbClr val="B2691F"/>
                </a:solidFill>
              </a:rPr>
              <a:t>▪  Lesson 3 — </a:t>
            </a:r>
            <a:r>
              <a:rPr sz="1650">
                <a:solidFill>
                  <a:srgbClr val="222222"/>
                </a:solidFill>
              </a:rPr>
              <a:t>small, well-labelled failure cases taught us more than the aggregate metrics alone — each failure pointed to a specific, fixable cause (corpus gap, router heuristic, or missing consistency check).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FFFFFF"/>
                </a:solidFill>
              </a:rPr>
              <a:t>▪  Ingest missing tax-relief documents (Parent Relief, WMCR, a consolidated reliefs overview)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FFFFF"/>
                </a:solidFill>
              </a:rPr>
              <a:t>▪  Add a post-generation consistency check between the shortlist's reason text and the structured profile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FFFFF"/>
                </a:solidFill>
              </a:rPr>
              <a:t>▪  Expand the hand-labelled test set and allow multiple ground-truth chunks per question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FFFFF"/>
                </a:solidFill>
              </a:rPr>
              <a:t>▪  Add a reranking stage to recover MRR without losing the Hit Rate/Recall@5 gains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FFFFF"/>
                </a:solidFill>
              </a:rPr>
              <a:t>▪  Replace the keyword intent router with a small classifier or few-shot LLM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B9CCE0"/>
                </a:solidFill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BB0C8"/>
                </a:solidFill>
              </a:rPr>
              <a:t>All group members: [Name 1] (DATA &amp; INGESTION) · [Name 2] (RETRIEVAL) · [Name 3] (GENERATION &amp; APPLICATION) · [Name 4] (EVALUATION &amp; TESTING)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