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SG Citizen Financial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B9CCE0"/>
                </a:solidFill>
              </a:rPr>
              <a:t>A Multimodal RAG Agent for Singapore Government Subsidy Schemes &amp; Tax Reliefs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Group: [Group Name / Number]</a:t>
            </a:r>
          </a:p>
          <a:p>
            <a:r>
              <a:rPr sz="1400">
                <a:solidFill>
                  <a:srgbClr val="FFFFFF"/>
                </a:solidFill>
              </a:rPr>
              <a:t>Members: [Name 1] · [Name 2] · [Name 3] · [Name 4]</a:t>
            </a:r>
          </a:p>
          <a:p>
            <a:r>
              <a:rPr sz="1400">
                <a:solidFill>
                  <a:srgbClr val="9BB0C8"/>
                </a:solidFill>
              </a:rPr>
              <a:t>Mini-Project: Build and Evaluate a Practical RAG Assistant — 30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Problem &amp; Intended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Who it's for — </a:t>
            </a:r>
            <a:r>
              <a:rPr sz="1900">
                <a:solidFill>
                  <a:srgbClr val="222222"/>
                </a:solidFill>
              </a:rPr>
              <a:t>Singaporean residents — or people helping them, like social workers or family members — who need a plain-language answer to “Am I eligible for X?” or “How much is Y?”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The problem — </a:t>
            </a:r>
            <a:r>
              <a:rPr sz="1900">
                <a:solidFill>
                  <a:srgbClr val="222222"/>
                </a:solidFill>
              </a:rPr>
              <a:t>Eligibility rules and payout amounts are scattered across dozens of official PDFs, infographics and explainer videos. It's slow to search and easy to misread a condition.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Our answer — </a:t>
            </a:r>
            <a:r>
              <a:rPr sz="1900">
                <a:solidFill>
                  <a:srgbClr val="222222"/>
                </a:solidFill>
              </a:rPr>
              <a:t>A RAG assistant that retrieves the right passage, generates a grounded response, and always shows the source — in two modes: General Q&amp;A and a Personal Eligibility Shortlist.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Evidence-based question we set out to answer — </a:t>
            </a:r>
            <a:r>
              <a:rPr sz="1900">
                <a:solidFill>
                  <a:srgbClr val="222222"/>
                </a:solidFill>
              </a:rPr>
              <a:t>how effectively can our system retrieve the right evidence and produce a grounded, attributable answer for this domain?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3 MIN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1965960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Browser
(Q&amp;A / Profile UI)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103120"/>
            <a:ext cx="1965960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FastAPI Backend
/api/query
/api/profile-query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2103120"/>
            <a:ext cx="1965960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RagIndex
Chroma (dense) +
BM25 (hybrid)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103120"/>
            <a:ext cx="1965960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LLM
Gemini / Groq /
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2103120"/>
            <a:ext cx="1965960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Answer +
Sources JSON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00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86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72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42900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Static HTML/CSS/JS frontend with two entry points — no build step required.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FastAPI backend exposes /api/query (general Q&amp;A), /api/profile-query (eligibility shortlist) and /api/config.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RagIndex wraps the Chroma collection, BM25 index, chunk records and embedder in one retrieval object.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LLM client is pluggable (Gemini / Groq / OpenAI); a Gradio app reuses the same modules as a demo-day fallback.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3 MIN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Knowledge Base &amp; Chunking Strategy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881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7955279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Chunks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How it's processed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PDF/HTML scheme pages, extracted via pypdf/pdfplumber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Image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Eligibility infographics, OCR'd via pytesseract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Scheme explainer videos, transcribed via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385 source documents → 1,809 chunks in ChromaDB — 3 modalities (exceeds the 2-modality minimum).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Structure-aware chunking: pack whole paragraphs up to 350 words — never split mid-paragraph, so an eligibility condition list stays intact.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Only an oversized single paragraph falls back to fixed 350-word chunks with 50-word overlap.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Optional contextual chunking prepends a short “where this sits in the document” sentence before embedding, using a separate LLM quota from the live-query provider.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3 MIN — 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Retrieval &amp; Generation: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50">
                <a:solidFill>
                  <a:srgbClr val="1F3A5F"/>
                </a:solidFill>
              </a:rPr>
              <a:t>▪  Dense + hybrid retrieval — </a:t>
            </a:r>
            <a:r>
              <a:rPr sz="1750">
                <a:solidFill>
                  <a:srgbClr val="222222"/>
                </a:solidFill>
              </a:rPr>
              <a:t>BAAI/bge-m3 dense embeddings in Chroma; hybrid mode fuses BM25 keyword search via Reciprocal Rank Fusion (k=60).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50">
                <a:solidFill>
                  <a:srgbClr val="1F3A5F"/>
                </a:solidFill>
              </a:rPr>
              <a:t>▪  Two-layer abstention gate — </a:t>
            </a:r>
            <a:r>
              <a:rPr sz="1750">
                <a:solidFill>
                  <a:srgbClr val="222222"/>
                </a:solidFill>
              </a:rPr>
              <a:t>a similarity-threshold check (0.35) before the LLM is ever called, plus an in-prompt instruction to abstain if evidence is insufficient.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50">
                <a:solidFill>
                  <a:srgbClr val="1F3A5F"/>
                </a:solidFill>
              </a:rPr>
              <a:t>▪  Agentic pipeline — </a:t>
            </a:r>
            <a:r>
              <a:rPr sz="1750">
                <a:solidFill>
                  <a:srgbClr val="222222"/>
                </a:solidFill>
              </a:rPr>
              <a:t>query-rewrite agent, personal-situation intent router, profile-extraction agent, and an eligibility-shortlist assessor.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50">
                <a:solidFill>
                  <a:srgbClr val="1F3A5F"/>
                </a:solidFill>
              </a:rPr>
              <a:t>▪  Deterministic grounding safeguard — </a:t>
            </a:r>
            <a:r>
              <a:rPr sz="1750">
                <a:solidFill>
                  <a:srgbClr val="222222"/>
                </a:solidFill>
              </a:rPr>
              <a:t>the eligible/unclear/not_assessed bucket for each scheme is derived in code from structured conditions — never taken from the model's own prose.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50">
                <a:solidFill>
                  <a:srgbClr val="1F3A5F"/>
                </a:solidFill>
              </a:rPr>
              <a:t>▪  Safety — </a:t>
            </a:r>
            <a:r>
              <a:rPr sz="1750">
                <a:solidFill>
                  <a:srgbClr val="222222"/>
                </a:solidFill>
              </a:rPr>
              <a:t>NRIC/FIN-shaped identifiers are redacted before any query reaches an LLM; every citation is validated against the retrieved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General Q&amp;A example — </a:t>
            </a:r>
            <a:r>
              <a:rPr sz="1900">
                <a:solidFill>
                  <a:srgbClr val="222222"/>
                </a:solidFill>
              </a:rPr>
              <a:t>“How much does each eligible Singaporean household get from CDC Vouchers?” — grounded answer with [scheme, section] citation.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Personal Eligibility Shortlist example — </a:t>
            </a:r>
            <a:r>
              <a:rPr sz="1900">
                <a:solidFill>
                  <a:srgbClr val="222222"/>
                </a:solidFill>
              </a:rPr>
              <a:t>Profile: Singapore Citizen, age 68, HDB flat, retired — shortlist surfaces Silver Support and cost-of-living schemes as “Possibly eligible” with per-condition reasoning.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900">
                <a:solidFill>
                  <a:srgbClr val="1F3A5F"/>
                </a:solidFill>
              </a:rPr>
              <a:t>▪  Unanswerable question example — </a:t>
            </a:r>
            <a:r>
              <a:rPr sz="1900">
                <a:solidFill>
                  <a:srgbClr val="222222"/>
                </a:solidFill>
              </a:rPr>
              <a:t>“Can I use my CDC Vouchers to pay my IRAS income tax bill?” — correctly triggers the fallback message instead of guessing.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>
                <a:solidFill>
                  <a:srgbClr val="222222"/>
                </a:solidFill>
              </a:rPr>
              <a:t>▪  [Switch to the running application for the live walkthrough]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[Name(s)]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2 MIN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Evaluation Dataset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800">
                <a:solidFill>
                  <a:srgbClr val="1F3A5F"/>
                </a:solidFill>
              </a:rPr>
              <a:t>▪  15-question test set — </a:t>
            </a:r>
            <a:r>
              <a:rPr sz="1800">
                <a:solidFill>
                  <a:srgbClr val="222222"/>
                </a:solidFill>
              </a:rPr>
              <a:t>Factual (F1–F3), Paraphrase (P1–P3), Multi-document (M1–M2), Unanswerable (U1–U2), Ambiguous (A1–A2), Personal profile (PR1–PR3).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800">
                <a:solidFill>
                  <a:srgbClr val="1F3A5F"/>
                </a:solidFill>
              </a:rPr>
              <a:t>▪  8 questions hand-labelled</a:t>
            </a:r>
            <a:r>
              <a:rPr sz="1800">
                <a:solidFill>
                  <a:srgbClr val="222222"/>
                </a:solidFill>
              </a:rPr>
              <a:t>with ground-truth chunk(s) for retrieval scoring.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800">
                <a:solidFill>
                  <a:srgbClr val="1F3A5F"/>
                </a:solidFill>
              </a:rPr>
              <a:t>▪  3 retrieval measures — </a:t>
            </a:r>
            <a:r>
              <a:rPr sz="1800">
                <a:solidFill>
                  <a:srgbClr val="222222"/>
                </a:solidFill>
              </a:rPr>
              <a:t>Hit Rate, Recall@5, Mean Reciprocal Rank (MRR).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800">
                <a:solidFill>
                  <a:srgbClr val="1F3A5F"/>
                </a:solidFill>
              </a:rPr>
              <a:t>▪  1 answer-quality measure — </a:t>
            </a:r>
            <a:r>
              <a:rPr sz="1800">
                <a:solidFill>
                  <a:srgbClr val="222222"/>
                </a:solidFill>
              </a:rPr>
              <a:t>structured 0–2 rubric across Correctness, Faithfulness, Citation accuracy.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800">
                <a:solidFill>
                  <a:srgbClr val="1F3A5F"/>
                </a:solidFill>
              </a:rPr>
              <a:t>▪  Run config — </a:t>
            </a:r>
            <a:r>
              <a:rPr sz="1800">
                <a:solidFill>
                  <a:srgbClr val="222222"/>
                </a:solidFill>
              </a:rPr>
              <a:t>gpt-5.4-mini, BAAI/bge-m3 embeddings, top_k=5, query rewrite off (to isolate the retrieval-mode comparison).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2 MIN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Baseline (Dense) vs. Improved (Hybrid)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155448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219456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Hit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37.5%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+12.5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Recall@5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18.8%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31.2%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+12.5 pp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−0.031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Correctness (mean)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+0.13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Faithfulness (mean)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−0.26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Citation accuracy (mean)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1.80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1.80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7492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550">
                <a:solidFill>
                  <a:srgbClr val="1F3A5F"/>
                </a:solidFill>
              </a:rPr>
              <a:t>▪  What changed — </a:t>
            </a:r>
            <a:r>
              <a:rPr sz="1550">
                <a:solidFill>
                  <a:srgbClr val="222222"/>
                </a:solidFill>
              </a:rPr>
              <a:t>added BM25 keyword search fused with dense retrieval via Reciprocal Rank Fusion, to catch distinctive keywords/amounts dense embeddings dilute.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550">
                <a:solidFill>
                  <a:srgbClr val="1F3A5F"/>
                </a:solidFill>
              </a:rPr>
              <a:t>▪  Trade-off — </a:t>
            </a:r>
            <a:r>
              <a:rPr sz="1550">
                <a:solidFill>
                  <a:srgbClr val="222222"/>
                </a:solidFill>
              </a:rPr>
              <a:t>hybrid retrieves the right evidence more often, but is less strictly grounded when it does answer — and ranks correct hits slightly later on average.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INCLUDED IN 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Failure Case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PR3 — citizenship hallucination: </a:t>
            </a:r>
            <a:r>
              <a:rPr sz="1700">
                <a:solidFill>
                  <a:srgbClr val="222222"/>
                </a:solidFill>
              </a:rPr>
              <a:t>hybrid's reason text asserted “Singapore Citizen” for a profile explicitly marked PR — a generation/grounding failure, since bucket logic only reads structured conditions.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P1/P2 — paraphrase misrouting: </a:t>
            </a:r>
            <a:r>
              <a:rPr sz="1700">
                <a:solidFill>
                  <a:srgbClr val="222222"/>
                </a:solidFill>
              </a:rPr>
              <a:t>“my mother” / “working mum” tax questions were routed into the eligibility-shortlist path instead of IRAS Parent Relief / WMCR — a corpus gap plus an over-eager keyword router.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F2 — corpus-gap false positive: </a:t>
            </a:r>
            <a:r>
              <a:rPr sz="1700">
                <a:solidFill>
                  <a:srgbClr val="222222"/>
                </a:solidFill>
              </a:rPr>
              <a:t>hybrid stated the $80,000 tax relief cap from passages that only mention it in passing, versus dense's safer abstention.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M2 — under-grounded synthesis: </a:t>
            </a:r>
            <a:r>
              <a:rPr sz="1700">
                <a:solidFill>
                  <a:srgbClr val="222222"/>
                </a:solidFill>
              </a:rPr>
              <a:t>hybrid generated a plausible but only partially correct multi-document answer where dense abstained cleanly instead.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CCE0"/>
                </a:solidFill>
              </a:rPr>
              <a:t>1–2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Limitations &amp; 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Limitations — </a:t>
            </a:r>
            <a:r>
              <a:rPr sz="1700">
                <a:solidFill>
                  <a:srgbClr val="222222"/>
                </a:solidFill>
              </a:rPr>
              <a:t>small labelled eval set (8/15); known corpus gaps (Parent Relief/WMCR); keyword-based intent router can misfire; shortlist reasons aren't cross-checked against the profile; MRR regressed under hybrid.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Lesson 1 — </a:t>
            </a:r>
            <a:r>
              <a:rPr sz="1700">
                <a:solidFill>
                  <a:srgbClr val="222222"/>
                </a:solidFill>
              </a:rPr>
              <a:t>hybrid retrieval trades some ranking precision and answer-faithfulness for meaningfully better coverage — worth it here, but the grounding gap needs a fix.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Lesson 2 — </a:t>
            </a:r>
            <a:r>
              <a:rPr sz="1700">
                <a:solidFill>
                  <a:srgbClr val="222222"/>
                </a:solidFill>
              </a:rPr>
              <a:t>deriving safety-critical logic (the eligible/unclear bucket) in code from structured fields, rather than trusting the model's own prose, caught bucket errors but not text-level contradictions — both layers need validation.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b="1" sz="1700">
                <a:solidFill>
                  <a:srgbClr val="1F3A5F"/>
                </a:solidFill>
              </a:rPr>
              <a:t>▪  Lesson 3 — </a:t>
            </a:r>
            <a:r>
              <a:rPr sz="1700">
                <a:solidFill>
                  <a:srgbClr val="222222"/>
                </a:solidFill>
              </a:rPr>
              <a:t>small, well-labelled failure cases taught us more than the aggregate metrics alone — each failure pointed to a specific, fixable cause (corpus gap, router heuristic, or missing consistency check).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i="1">
                <a:solidFill>
                  <a:srgbClr val="6B6B6B"/>
                </a:solidFill>
              </a:rPr>
              <a:t>Presented by: [Name]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Ingest missing tax-relief documents (Parent Relief, WMCR, a consolidated reliefs overview)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Add a post-generation consistency check between the shortlist's reason text and the structured profile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Expand the hand-labelled test set and allow multiple ground-truth chunks per question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Add a reranking stage to recover MRR without losing the Hit Rate/Recall@5 gains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Replace the keyword intent router with a small classifier or few-shot LLM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B9CCE0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